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cd8c75aa-a858-939c-c0d2-cf75493199e2}">
          <p14:sldIdLst>
            <p14:sldId id="256"/>
          </p14:sldIdLst>
        </p14:section>
        <p14:section name="認識 ScreenTrace" id="{054d7174-923e-2039-25f2-67954761a9dd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技術架構" id="{edcaf2a9-e2bd-ad6e-24e2-735ca092e54a}">
          <p14:sldIdLst>
            <p14:sldId id="266"/>
            <p14:sldId id="267"/>
            <p14:sldId id="268"/>
            <p14:sldId id="269"/>
          </p14:sldIdLst>
        </p14:section>
        <p14:section name="實例：編輯服務" id="{b566e76d-7002-bc17-a5d0-c9090e36d1a6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結語" id="{3db9d1f8-bc55-2f67-3407-b5361f2ac143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開場（1 分鐘）。今天分三段：先介紹 ScreenTrace 是什麼、能做什麼、怎麼用；再看它的技術架構；最後拿 reservio 專案的一個真實畫面「編輯服務」，一步一步看 ScreenTrace 怎麼從原始碼找出這個畫面怎麼來的、上面有什麼按鈕、按下去打哪支 API、又會去到哪裡。範例都是自有專案 reservio，不含公司程式碼。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第一段約 10 分鐘：目的 → 功能 → 實際操作。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分鐘。這是專案動機，不是量測過的工時改善（docs/REQUIREMENTS.md、docs/PRODUCT_SPEC.md）。一顆按鈕的去向，常要跨 JSP／JSX、JavaScript、設定檔與 Controller 才追得出來；畫面一多就只能靠人記。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分鐘。輸入只有專案原始碼資料夾；一個指令就產出三樣東西：給人看的離線 HTML 報表、給程式與 AI 用的 application-graph.json、以及需求方標記後下載的決策 md。三個原則來自 AGENTS.md §2：唯讀、可追溯、不默默猜測。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分鐘。六個功能各自對應報表上的一個區塊，下一頁開始實際操作。最後兩項是給後端最常用的：從 API 反查哪些畫面在用，以及把畫面標記移除後，API 是否還有人用。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分鐘。第一次執行 setup 會檢查並安裝 Java 17+、Maven 3.9+、Node 18+、Playwright 與 Chromium（macOS 用 Homebrew、Windows 用 winget），需要網路。之後一個指令就完成分析並自動用 Chrome／Edge 開啟報表。結果寫入 &lt;ScreenTrace&gt;/analyze/&lt;專案名稱&gt;/，或 config 設定的分析結果根目錄。不帶參數執行會出現選單。來源：README.md、docs/ANALYST_GUIDE.md。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分鐘。這是 reservio 的報表首頁。① 左側清單可用網址或畫面名稱搜尋；② 畫布依網址分組，41 個畫面縮圖之間的線是可以互相前往的關係；③ 上方切換「畫面」與「API」兩個頁籤；④ 右上角是確認進度與下載 md。點一下畫面看關聯，點兩下打開。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2 分鐘。點兩下「編輯服務」打開。① 中間是靜態重建的預覽，可以點按鈕試操作，ScreenTrace 會依分析結果帶到下一個畫面（資料都是「示例值」）；② 保留／移除／未確認是需求方的決定；③ 展開按鈕清單，每顆按鈕都寫出會打的 API 與前往的畫面；④ 這個畫面會呼叫的 API；⑤ 從哪些畫面可以來到這裡。這個畫面就是第三段要拆解的例子。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分鐘。切到 API 頁：66 支 API 依 Controller 分組。點 POST /api/businesses/services/{id}/modify：處理程式 BusinessApiController.modifyServiceItem()（:394），呼叫來源是「編輯服務」畫面的兩顆按鈕，展開 Request／Response 可以看到 DTO 欄位。三種狀態依標記即時推導（viewer review.ts deriveApiUsage()）。所有標記可下載成 md，裡面包含決策與分析限制，可交給工程或 AI 接手。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 分鐘。來源：README.md、docs/ARCHITECTURE.md（ADR 0080 JSF 邊界、ADR 0092 Thymeleaf）。Struts 2 偵測到即以 UNSUPPORTED_FRAMEWORK 拒絕，不會產生半套結果。Angular、Spring Boot 4 是後續需求方向。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第二段約 5 分鐘：模組、管線、Application Graph。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2 分鐘。根 pom.xml 有 7 個 Maven 模組：core、scanner、parser-jsp、adapter-struts、adapter-spring、report、cli；另有三個 Node 模組：screentrace-js（Acorn／Babel）、screentrace-capture（Playwright Chromium）、screentrace-viewer（報表前端）。core 不依賴 Spring、也沒有任何框架名詞，框架知識都放在 adapter（AGENTS.md §2.2）。reservio 這種 Spring Boot＋React 專案，後端由 adapter-spring 解析，前端由 screentrace-js 解析，最後在 core 合併。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分鐘。這是邏輯階段（ScreenTraceCli.analyze()、ProjectScanner、各 adapter、ApplicationGraphMerger、GraphIntegrityValidator、capture、SingleHtmlAnalysisWriter），不是五個獨立模組。每個解析器只貢獻節點與關係，由 core 合併，所以新增框架不必改核心。第三段的例子會依序走過第 2、3 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2 分鐘。左邊是核心關係（screentrace-core ApplicationGraph.EdgeType），實際還有 CALLS、FORWARDS_TO、BINDS_TO 等。右邊是 reservio 圖中的一條真實關係（from／to 的穩定 ID 換成名稱）。報表的畫面地圖、按鈕清單、API 頁、md 都讀這同一張圖，所以每個結論都能回到 file:line。React 條件圖 schema 2.3。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第三段約 10 分鐘，也可以邊講邊開 demo/react-reservio.html 對照。reservio 是 Spring Boot 後端＋React（react-router）前端的自有專案，共 41 個畫面、66 支 API。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 分鐘。商家在「服務管理」點某項服務的「編輯」，進到這個畫面修改服務名稱與時長，按「儲存服務」後回到服務管理。我們要用四個問題拆解它，每一題都會先看原始碼，再看 ScreenTrace 圖裡產生了什麼。截圖中的欄位內容是示例值。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2 分鐘。screentrace-js 用 Babel 解析 App.tsx 的 JSX：第 273 行的 &lt;Route path="/service/:id/edit"&gt; 產生一個 ENTRY_POINT（網址入口，CONFIRMED），它 RENDERS 一個 SCREEN。外面包的 RequireBusiness（第 107–114 行）是 Guard，ScreenTrace 把它的判斷式記成這個畫面的「適用條件」：必須是商家、已建立商家資料、且不需要強制改密碼。element 往下追到 ServiceEditorScaffold → ServiceEditorPage，就是畫面內容的來源檔。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分鐘。ServiceEditorPage.tsx 第 22 行回傳的 JSX 裡有：返回服務管理的 &lt;Link&gt;、兩個 &lt;input&gt;（service-name、service-duration）、以及 StickySaveBar 元件。Babel 會跟進 StickySaveBar.tsx，找出裡面的「儲存服務」「捨棄變更」兩顆按鈕；也會展開外層的 BusinessWorkspaceShell（側邊欄、頂部列、登出）。所以圖中這個畫面 CONTAINS 30 個元件，報表的按鈕清單顯示 27 個可操作項目。載入或儲存失敗時才出現的「重試」按鈕也會列出。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2 分鐘。從按鈕往下追呼叫鏈：StickySaveBar 的 onSave 指向 save()（L19）；save() 呼叫 api.modifyServiceItem(id, payload)；api.ts 第 241 行用樣板字串組出 /api/businesses/services/${id}/modify，method POST；共用的 request() 在送 POST 前會先取 CSRF token，所以同時記錄 GET /api/csrf（api.ts:36）。儲存成功後再呼叫 businessServices() 重新讀取，並 navigate('/service/manage')。evidence 記為「跨函式呼叫：request」，因為網址是樣板組出來的，所以是 INFERRED。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2 分鐘。這是分析管線第 3 步「關聯」的實際樣子。前端樣板 /api/businesses/services/${id}/modify，RouteTemplateInference 把 ${id} 正規化成萬用段 /api/businesses/services/*/modify。後端由 adapter-spring 用 JavaParser 讀 BusinessApiController：類別上的 @RequestMapping("/api")（L23）加上方法上的 @PostMapping("/businesses/services/{id}/modify")（L394），組成 POST /api/businesses/services/{id}/modify。兩邊的 method 與路徑樣板對得上，就連成 TRIGGERS → HANDLED_BY。同時 ApiContractExtractor 從 @PathVariable、@RequestBody 與 ServiceItemRequest 擷取參數契約。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分鐘。進入：服務管理頁第 18 行的 &lt;Link to={`/service/${encodeURIComponent(service.id)}/edit`}&gt;「編輯」，網址是樣板組出來的，所以 NAVIGATES_TO 是 INFERRED。離開：「返回服務管理」&lt;Link to="/service/manage"&gt;（L22）與 save() 成功後的 navigate('/service/manage')（L19）都是字面值，CONFIRMED；側邊欄的連結來自共用外框；登出按鈕會打 POST /api/auth/logout 再到登入頁。另外，畫面一打開 load() 就會呼叫 GET /api/businesses/{businessId}/services 讀出要編輯的服務（L17 → api.ts:179）。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分鐘。把四個問題串起來：服務管理 →（編輯）→ 編輯服務 →（儲存服務）→ POST /api/businesses/services/{id}/modify → BusinessApiController.modifyServiceItem() → 回到服務管理。右邊是報表按鈕清單中「儲存服務」那一列：GET /api/csrf · POST …/modify · GET …/services · 前往「服務管理」，正好就是前面一步一步追出來的結果，而且每一段都能回到 file:line。可以現場打開 demo/react-reservio.html 對照。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分鐘。四種是解析狀態，不是機率。數字來自 analyze/reservio/application-graph.json：2,848 條關係中 CONFIRMED 2,520、INFERRED 294、AMBIGUOUS 34；無法證明的另外記成 5 筆診斷。AMBIGUOUS 例子：AuthShell.tsx:18 的「返回首頁」連到 /，但 / 依身分有訪客首頁與商家首頁兩個畫面，所以兩個都保留。UNRESOLVED 例子：SecurityConfig.java:104 的 LINE 登入導回路徑來自設定或運算式，ScreenTrace 不猜前端路由，記成 EXTERNAL_LOGIN_RETURN_UNRESOLVED。R17 起報表不直接顯示這些狀態，完整保留在圖與 md「分析限制」。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1.5 分鐘。來源：docs/ANALYST_GUIDE.md、docs/USER_GUIDE.md、docs/reports/R18.md、docs/ROADMAP.md。靜態預覽不等於原系統行為；目前只交付盤點範圍與 md，不自動轉換程式。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2–3 分鐘討論。建議收斂成一個具體行動：選一個內部專案、一條流程（入口 → 畫面 → 按鈕 → API → 後端方法 → 下一頁），由熟悉該系統的同仁核對結果。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ScreenTrace · 後端技術分享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後端技術分享 · 2026.10.30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ScreenTrace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D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從原始碼重建畫面、流程與 API 的關係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4892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1C3A50"/>
          </a:solidFill>
          <a:ln w="9525">
            <a:solidFill>
              <a:srgbClr val="2F58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892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9464" y="5212080"/>
            <a:ext cx="347472" cy="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4892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1C3A50"/>
          </a:solidFill>
          <a:ln w="9525">
            <a:solidFill>
              <a:srgbClr val="2F58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4892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09744" y="5212080"/>
            <a:ext cx="347472" cy="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4892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1C3A50"/>
          </a:solidFill>
          <a:ln w="9525">
            <a:solidFill>
              <a:srgbClr val="2F58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4892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050024" y="5212080"/>
            <a:ext cx="347472" cy="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4892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1C3A50"/>
          </a:solidFill>
          <a:ln w="9525">
            <a:solidFill>
              <a:srgbClr val="2F58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4892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290304" y="5212080"/>
            <a:ext cx="347472" cy="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92640" y="4892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1C3A50"/>
          </a:solidFill>
          <a:ln w="9525">
            <a:solidFill>
              <a:srgbClr val="2F58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4892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下一個畫面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ScreenTrace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它要解決什麼問題、能做什麼、怎麼使用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接手舊系統時，最常卡住的三件事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接手舊系統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3756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文件早已過時，畫面和程式的對應只留在原開發者腦中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25112" y="1600200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5152" y="1920240"/>
            <a:ext cx="731520" cy="731520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45152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45152" y="28346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功能盤點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4645152" y="333756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需求方用畫面溝通，後端用 URL 與 Controller，雙方缺少共同語言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01584" y="1600200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21624" y="1920240"/>
            <a:ext cx="731520" cy="731520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21624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421624" y="28346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決定改版範圍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8421624" y="333756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要先知道哪些畫面、按鈕、API 還在用，才能決定遷移什麼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目標：把「人工追程式」變成可重現、每一步都能回到原始碼的分析結果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ScreenTrace 是什麼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專案原始碼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JSP、Java、XML、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JS／TS、React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2788920"/>
            <a:ext cx="594360" cy="0"/>
          </a:xfrm>
          <a:prstGeom prst="line">
            <a:avLst/>
          </a:prstGeom>
          <a:noFill/>
          <a:ln w="317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977640" y="1737360"/>
            <a:ext cx="2834640" cy="2103120"/>
          </a:xfrm>
          <a:prstGeom prst="roundRect">
            <a:avLst>
              <a:gd name="adj" fmla="val 3478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062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ScreenTrace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./bin/screentrace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&lt;專案路徑&gt;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靜態分析，不啟動系統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 flipV="1">
            <a:off x="6903720" y="1938528"/>
            <a:ext cx="457200" cy="850392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406640" y="160020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89520" y="16550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 HTML 報表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1956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畫面地圖、預覽、試操作、API 頁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 flipV="1">
            <a:off x="6903720" y="2761488"/>
            <a:ext cx="457200" cy="27432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406640" y="242316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9520" y="24780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application-graph.json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2779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畫面、按鈕、API 的關係與來源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03720" y="2788920"/>
            <a:ext cx="457200" cy="795528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406640" y="32461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89520" y="3300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 md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保留／移除的標記與分析限制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434840"/>
            <a:ext cx="350215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4663440"/>
            <a:ext cx="548640" cy="548640"/>
          </a:xfrm>
          <a:prstGeom prst="ellipse">
            <a:avLst/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47091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534924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不啟動、不執行、不連資料庫、不改原始碼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325112" y="4434840"/>
            <a:ext cx="350215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99432" y="4663440"/>
            <a:ext cx="548640" cy="548640"/>
          </a:xfrm>
          <a:prstGeom prst="ellipse">
            <a:avLst/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99432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溯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5330952" y="47091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可追溯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4599432" y="534924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每條關係都記錄 file:line 與來源 parser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101584" y="4434840"/>
            <a:ext cx="350215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75904" y="4663440"/>
            <a:ext cx="548640" cy="548640"/>
          </a:xfrm>
          <a:prstGeom prst="ellipse">
            <a:avLst/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375904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9107424" y="47091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不猜測</a:t>
            </a:r>
            <a:endParaRPr lang="en-US" sz="1900" dirty="0"/>
          </a:p>
        </p:txBody>
      </p:sp>
      <p:sp>
        <p:nvSpPr>
          <p:cNvPr id="40" name="Text 37"/>
          <p:cNvSpPr txBox="1"/>
          <p:nvPr/>
        </p:nvSpPr>
        <p:spPr>
          <a:xfrm>
            <a:off x="8375904" y="534924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證明不了就標成推導、歧義或未解析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它能幫你回答什麼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013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畫面地圖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700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有哪些畫面？彼此怎麼連？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63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報表位置：依網址分組的畫布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160020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99432" y="18013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599432" y="224028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畫面預覽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599432" y="26700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不啟動系統，也能看到畫面長相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99432" y="3063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報表位置：靜態重建＋截圖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01584" y="160020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75904" y="18013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375904" y="224028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按鈕去向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375904" y="26700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這顆按鈕按下去會到哪個畫面？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75904" y="3063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報表位置：右側按鈕清單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74904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39502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38912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呼叫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81888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這個畫面、這顆按鈕打了哪些 API？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212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報表位置：呼叫的 API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25112" y="374904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99432" y="39502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4599432" y="438912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反查與契約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4599432" y="481888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這支 API 被誰呼叫？參數是什麼？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99432" y="5212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報表位置：API 頁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101584" y="374904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75904" y="39502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8375904" y="438912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保留／移除決策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8375904" y="481888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標記後哪些 API 變成可移除？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375904" y="5212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報表位置：標記＋下載 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怎麼使用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使用步驟 ①：一個指令完成分析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第一次：安裝與檢查環境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./bin/screentrace setup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分析專案並開啟報表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./bin/screentrace ~/projects/reservio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.\bin\screentrace.cmd C:\projects\reservio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產出位置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040880" y="2103120"/>
            <a:ext cx="4572000" cy="2834640"/>
          </a:xfrm>
          <a:prstGeom prst="roundRect">
            <a:avLst>
              <a:gd name="adj" fmla="val 2581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69480" y="22860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analyze/reservio/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report/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screentrace-report.html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application-graph.json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screenshots/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static-preview/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報表是單一 HTML 檔：</a:t>
            </a:r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可以直接寄給需求方，雙擊用瀏覽器開啟，不需要伺服器或網路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怎麼使用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使用步驟 ②：先看整個系統有哪些畫面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30352" y="1581912"/>
            <a:ext cx="7260336" cy="4553712"/>
          </a:xfrm>
          <a:prstGeom prst="rect">
            <a:avLst/>
          </a:prstGeom>
          <a:solidFill>
            <a:srgbClr val="C9D4DA"/>
          </a:solidFill>
          <a:ln w="12700">
            <a:solidFill>
              <a:srgbClr val="C9D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machi/IntelliJ/screentrace/presentation/2026-10-30/assets/rv-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71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593799" y="2320747"/>
            <a:ext cx="365760" cy="36576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593799" y="232074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338828" y="2772461"/>
            <a:ext cx="365760" cy="36576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338828" y="277246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810512" y="1575420"/>
            <a:ext cx="365760" cy="36576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810512" y="15754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578194" y="1801277"/>
            <a:ext cx="365760" cy="36576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578194" y="180127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83880" y="1737360"/>
            <a:ext cx="365760" cy="36576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1838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714232" y="171907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畫面清單與搜尋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8714232" y="2066544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輸入網址或名稱，快速找到畫面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83880" y="2788920"/>
            <a:ext cx="365760" cy="36576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1838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714232" y="27706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畫面地圖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714232" y="3118104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依網址分組；線代表畫面之間的去向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183880" y="3840480"/>
            <a:ext cx="365760" cy="36576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1838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8714232" y="382219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畫面／API 頁籤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8714232" y="4169664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從畫面看，或從 API 反查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183880" y="4892040"/>
            <a:ext cx="365760" cy="36576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18388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8714232" y="487375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進度與下載 md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8714232" y="5221224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已確認幾個畫面、匯出決策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怎麼使用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使用步驟 ③：打開畫面，看按鈕與 API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30352" y="1581912"/>
            <a:ext cx="7260336" cy="4553712"/>
          </a:xfrm>
          <a:prstGeom prst="rect">
            <a:avLst/>
          </a:prstGeom>
          <a:solidFill>
            <a:srgbClr val="C9D4DA"/>
          </a:solidFill>
          <a:ln w="12700">
            <a:solidFill>
              <a:srgbClr val="C9D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machi/IntelliJ/screentrace/presentation/2026-10-30/assets/rv-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71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55264" y="3901745"/>
            <a:ext cx="365760" cy="36576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255264" y="390174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408926" y="1936791"/>
            <a:ext cx="365760" cy="36576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8926" y="19367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867144" y="2907975"/>
            <a:ext cx="365760" cy="36576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67144" y="290797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408926" y="3540374"/>
            <a:ext cx="365760" cy="36576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08926" y="35403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083857" y="4421215"/>
            <a:ext cx="365760" cy="36576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083857" y="44212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83880" y="1691640"/>
            <a:ext cx="365760" cy="36576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1838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714232" y="167335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預覽與試操作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714232" y="2020824"/>
            <a:ext cx="2944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點按鈕會依分析結果換頁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183880" y="2578608"/>
            <a:ext cx="365760" cy="36576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18388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714232" y="2560320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保留／移除標記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8714232" y="2907792"/>
            <a:ext cx="2944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需求方對這個畫面的決定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183880" y="3465576"/>
            <a:ext cx="365760" cy="36576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18388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714232" y="344728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按鈕清單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8714232" y="3794760"/>
            <a:ext cx="2944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每顆按鈕的 API 與去向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8183880" y="4352544"/>
            <a:ext cx="365760" cy="36576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18388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8714232" y="433425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呼叫的 API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8714232" y="4681728"/>
            <a:ext cx="2944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這個畫面用到的所有 API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8183880" y="5239512"/>
            <a:ext cx="365760" cy="36576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183880" y="5239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8714232" y="522122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從哪些畫面來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8714232" y="5568696"/>
            <a:ext cx="2944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反向的進入路徑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怎麼使用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使用步驟 ④：從 API 反查，最後交付 md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2F2E8"/>
          </a:solidFill>
          <a:ln w="9525">
            <a:solidFill>
              <a:srgbClr val="E2F2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使用中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至少一個呼叫來源仍保留或未確認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FBEFD9"/>
          </a:solidFill>
          <a:ln w="9525">
            <a:solidFill>
              <a:srgbClr val="FBEF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可移除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00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所有呼叫來源都已標記移除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F8E4E1"/>
          </a:solidFill>
          <a:ln w="9525">
            <a:solidFill>
              <a:srgbClr val="F8E4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未被使用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畫面中找不到呼叫來源（外部系統仍可能使用）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0292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120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 md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486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決策、來源與分析限制，交給工程或 AI 接手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28032" y="1627632"/>
            <a:ext cx="6803136" cy="4123944"/>
          </a:xfrm>
          <a:prstGeom prst="rect">
            <a:avLst/>
          </a:prstGeom>
          <a:solidFill>
            <a:srgbClr val="C9D4DA"/>
          </a:solidFill>
          <a:ln w="12700">
            <a:solidFill>
              <a:srgbClr val="C9D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/Users/machi/IntelliJ/screentrace/presentation/2026-10-30/assets/rv-api-modify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45920"/>
            <a:ext cx="6766560" cy="40873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846320" y="58338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reservio API 頁：處理程式、呼叫來源與 Request／Response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支援範圍與邊界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02152" cy="3429000"/>
          </a:xfrm>
          <a:prstGeom prst="roundRect">
            <a:avLst>
              <a:gd name="adj" fmla="val 2133"/>
            </a:avLst>
          </a:prstGeom>
          <a:solidFill>
            <a:srgbClr val="E2F2E8"/>
          </a:solidFill>
          <a:ln w="9525">
            <a:solidFill>
              <a:srgbClr val="E2F2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23160"/>
            <a:ext cx="2953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Struts 1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Struts＋Spring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MVC（JSP）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Boot（JSP）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Boot＋React（react-router）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5112" y="1600200"/>
            <a:ext cx="3502152" cy="3429000"/>
          </a:xfrm>
          <a:prstGeom prst="roundRect">
            <a:avLst>
              <a:gd name="adj" fmla="val 2133"/>
            </a:avLst>
          </a:prstGeom>
          <a:solidFill>
            <a:srgbClr val="FBEFD9"/>
          </a:solidFill>
          <a:ln w="9525">
            <a:solidFill>
              <a:srgbClr val="FBEF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45152" y="17830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部分支援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4645152" y="2423160"/>
            <a:ext cx="2953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JSF 頁面：標記為未分析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Thymeleaf：有限的 URL 與片段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動態 URL、反射：保留為未解析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01584" y="1600200"/>
            <a:ext cx="3502152" cy="3429000"/>
          </a:xfrm>
          <a:prstGeom prst="roundRect">
            <a:avLst>
              <a:gd name="adj" fmla="val 2133"/>
            </a:avLst>
          </a:prstGeom>
          <a:solidFill>
            <a:srgbClr val="F8E4E1"/>
          </a:solidFill>
          <a:ln w="9525">
            <a:solidFill>
              <a:srgbClr val="F8E4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21624" y="17830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54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不在範圍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421624" y="2423160"/>
            <a:ext cx="2953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Struts 2：直接拒絕分析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Angular、Vue：後續方向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自動轉換或修改程式碼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原則：分析不了的部分明確標出來，不產生「看起來完整」的錯誤結果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原始碼怎麼變成一張可追溯的圖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模組架構與資料流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88036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原始碼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319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目標專案（唯讀）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31720" y="3429000"/>
            <a:ext cx="365760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743200" y="288036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880360" y="3319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檔案探索、框架偵測、編碼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37760" y="160020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parser-jsp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039112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JSP 標記、Tag file、Tiles、include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 flipV="1">
            <a:off x="4526280" y="2020824"/>
            <a:ext cx="338328" cy="1408176"/>
          </a:xfrm>
          <a:prstGeom prst="line">
            <a:avLst/>
          </a:prstGeom>
          <a:noFill/>
          <a:ln w="15875">
            <a:solidFill>
              <a:srgbClr val="C9D4D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525512" y="2020824"/>
            <a:ext cx="338328" cy="1408176"/>
          </a:xfrm>
          <a:prstGeom prst="line">
            <a:avLst/>
          </a:prstGeom>
          <a:noFill/>
          <a:ln w="15875">
            <a:solidFill>
              <a:srgbClr val="C9D4D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937760" y="2587752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2679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adapter-struts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3026664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struts-config DOM、ActionForm、forward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 flipV="1">
            <a:off x="4526280" y="3008376"/>
            <a:ext cx="338328" cy="420624"/>
          </a:xfrm>
          <a:prstGeom prst="line">
            <a:avLst/>
          </a:prstGeom>
          <a:noFill/>
          <a:ln w="15875">
            <a:solidFill>
              <a:srgbClr val="C9D4D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525512" y="3008376"/>
            <a:ext cx="338328" cy="420624"/>
          </a:xfrm>
          <a:prstGeom prst="line">
            <a:avLst/>
          </a:prstGeom>
          <a:noFill/>
          <a:ln w="15875">
            <a:solidFill>
              <a:srgbClr val="C9D4D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937760" y="3575304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74920" y="36667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adapter-spring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074920" y="4014216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JavaParser AST、@Mapping、DTO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82896" y="3520440"/>
            <a:ext cx="2624328" cy="950976"/>
          </a:xfrm>
          <a:prstGeom prst="roundRect">
            <a:avLst>
              <a:gd name="adj" fmla="val 9615"/>
            </a:avLst>
          </a:prstGeom>
          <a:ln w="25400">
            <a:solidFill>
              <a:srgbClr val="1B7F8E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4526280" y="3429000"/>
            <a:ext cx="338328" cy="566928"/>
          </a:xfrm>
          <a:prstGeom prst="line">
            <a:avLst/>
          </a:prstGeom>
          <a:noFill/>
          <a:ln w="15875">
            <a:solidFill>
              <a:srgbClr val="C9D4D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 flipV="1">
            <a:off x="7525512" y="3429000"/>
            <a:ext cx="338328" cy="566928"/>
          </a:xfrm>
          <a:prstGeom prst="line">
            <a:avLst/>
          </a:prstGeom>
          <a:noFill/>
          <a:ln w="15875">
            <a:solidFill>
              <a:srgbClr val="C9D4DA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937760" y="4562856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74920" y="46542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screentrace-js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074920" y="5001768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Node：Acorn／Babel、React 路由與條件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882896" y="4507992"/>
            <a:ext cx="2624328" cy="950976"/>
          </a:xfrm>
          <a:prstGeom prst="roundRect">
            <a:avLst>
              <a:gd name="adj" fmla="val 9615"/>
            </a:avLst>
          </a:prstGeom>
          <a:ln w="25400">
            <a:solidFill>
              <a:srgbClr val="1B7F8E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4526280" y="3429000"/>
            <a:ext cx="338328" cy="1554480"/>
          </a:xfrm>
          <a:prstGeom prst="line">
            <a:avLst/>
          </a:prstGeom>
          <a:noFill/>
          <a:ln w="15875">
            <a:solidFill>
              <a:srgbClr val="C9D4DA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 flipV="1">
            <a:off x="7525512" y="3429000"/>
            <a:ext cx="338328" cy="1554480"/>
          </a:xfrm>
          <a:prstGeom prst="line">
            <a:avLst/>
          </a:prstGeom>
          <a:noFill/>
          <a:ln w="15875">
            <a:solidFill>
              <a:srgbClr val="C9D4DA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4937760" y="5596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虛線：reservio 用到的解析器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09560" y="27432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46720" y="2834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046720" y="3182112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 Graph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合併、驗證、穩定 ID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 flipV="1">
            <a:off x="9738360" y="2331720"/>
            <a:ext cx="320040" cy="109728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9738360" y="3429000"/>
            <a:ext cx="320040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9738360" y="3429000"/>
            <a:ext cx="320040" cy="109728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0104120" y="18745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241280" y="1965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graph.json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0241280" y="23134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正式產物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0104120" y="29718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241280" y="3063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0241280" y="34107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靜態預覽與截圖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10104120" y="406908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241280" y="4160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0241280" y="45079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單一離線 HTML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8640" y="589788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screentrace-cli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協調整個流程：分析 → 預覽 → 封裝報表 → 開啟瀏覽器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7909560" y="1600200"/>
            <a:ext cx="27432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75320" y="1563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模組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9418320" y="1600200"/>
            <a:ext cx="274320" cy="201168"/>
          </a:xfrm>
          <a:prstGeom prst="roundRect">
            <a:avLst>
              <a:gd name="adj" fmla="val 36364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784080" y="1563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Node 模組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分析管線：五個階段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探索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08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列出檔案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偵測框架與技術訊號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87752" y="3337560"/>
            <a:ext cx="196596" cy="0"/>
          </a:xfrm>
          <a:prstGeom prst="line">
            <a:avLst/>
          </a:prstGeom>
          <a:noFill/>
          <a:ln w="2540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11780" y="182880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4038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04038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040380" y="3108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XML、Java、JSP、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JS／TS 各自解析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4038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parser／adapter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50892" y="3337560"/>
            <a:ext cx="196596" cy="0"/>
          </a:xfrm>
          <a:prstGeom prst="line">
            <a:avLst/>
          </a:prstGeom>
          <a:noFill/>
          <a:ln w="2540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074920" y="182880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3108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5E3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URL、method、view、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5E3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forward 互相配對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352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114032" y="3337560"/>
            <a:ext cx="196596" cy="0"/>
          </a:xfrm>
          <a:prstGeom prst="line">
            <a:avLst/>
          </a:prstGeom>
          <a:noFill/>
          <a:ln w="2540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338060" y="182880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6666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75666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566660" y="3108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合併各解析結果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檢查圖完整性與來源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6666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377172" y="3337560"/>
            <a:ext cx="196596" cy="0"/>
          </a:xfrm>
          <a:prstGeom prst="line">
            <a:avLst/>
          </a:prstGeom>
          <a:noFill/>
          <a:ln w="2540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601200" y="182880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2980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982980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重建與封裝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829800" y="3108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靜態預覽、截圖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打包成單一 HTML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82980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capture／report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257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關鍵在第 3 步：前端送出的 URL 要對上後端的 mapping，才成為一條完整流程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 Graph：所有輸出共用的一張圖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856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21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0" y="17830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1F5F7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1856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2221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按鈕／欄位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0" y="425196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1F5F7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0" y="4325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4690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25196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1F5F7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325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690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後端方法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88920" y="2176272"/>
            <a:ext cx="822960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228600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09160" y="2606040"/>
            <a:ext cx="0" cy="160020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80060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 flipH="1">
            <a:off x="2788920" y="4645152"/>
            <a:ext cx="822960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228600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HANDLED_BY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 flipV="1">
            <a:off x="1691640" y="2606040"/>
            <a:ext cx="0" cy="160020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54864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5486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 ─NAVIGATES_TO→ SCREEN：按鈕前往的下一個畫面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0" y="1691640"/>
            <a:ext cx="5212080" cy="3794760"/>
          </a:xfrm>
          <a:prstGeom prst="roundRect">
            <a:avLst>
              <a:gd name="adj" fmla="val 1928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29400" y="18745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"HANDLED_BY",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"from": "POST /api/businesses/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services/{id}/modify",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"to":   "BusinessApiController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.modifyServiceItem()",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"CONFIRMED",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"evidence": [{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{ "file": "…/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BusinessApiController.java",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"line": 394 },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"parser": "SpringBootAnalyzer" }]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55595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reservio 的實際關係（ID 已換成名稱）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實例：拆解 reservio「編輯服務」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C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ScreenTrace 怎麼從原始碼找出這個畫面的來龍去脈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實例：編輯服務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今天的例子：/service/:id/edit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30352" y="1581912"/>
            <a:ext cx="6986016" cy="4379976"/>
          </a:xfrm>
          <a:prstGeom prst="rect">
            <a:avLst/>
          </a:prstGeom>
          <a:solidFill>
            <a:srgbClr val="C9D4DA"/>
          </a:solidFill>
          <a:ln w="12700">
            <a:solidFill>
              <a:srgbClr val="C9D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machi/IntelliJ/screentrace/presentation/2026-10-30/assets/rv-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63840" y="1737360"/>
            <a:ext cx="365760" cy="365760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638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394192" y="171907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這個畫面怎麼來的？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394192" y="2066544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路由、身分條件、畫面元件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863840" y="2788920"/>
            <a:ext cx="365760" cy="365760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638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394192" y="277063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畫面上有什麼？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394192" y="3118104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欄位、按鈕、連結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863840" y="3840480"/>
            <a:ext cx="365760" cy="365760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8638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394192" y="382219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按鈕打了哪支 API？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8394192" y="4169664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前端呼叫 → 後端方法 → 參數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863840" y="4892040"/>
            <a:ext cx="365760" cy="365760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8638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394192" y="487375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從哪來、能去哪？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394192" y="5221224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進入路徑與離開路徑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實例：編輯服務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這個畫面怎麼來的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6309360" cy="4526280"/>
          </a:xfrm>
          <a:prstGeom prst="roundRect">
            <a:avLst>
              <a:gd name="adj" fmla="val 1616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852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frontend/src/App.tsx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RequireBusiness({ children }) {        // L107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me, loading } = useAuth();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(!me) return &lt;Navigate to={loginPath}/&gt;;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(me.mustChangePassword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|| me.role !== 'ROLE_BUSINESS'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|| !me.business)                          // L112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&lt;Navigate …/&gt;;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children;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 path="/service/:id/edit"                 // L273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element={&lt;RequireAuth&gt;&lt;RequireBusiness&gt;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&lt;ServiceEditorScaffold editing/&gt; …}/&gt;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ScreenTrace 產生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269480" y="2057400"/>
            <a:ext cx="4343400" cy="914400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ENTRY_POINT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4231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/service/:id/edit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464040" y="2148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App.tsx:273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177272" y="2624328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E2F2E8"/>
          </a:solidFill>
          <a:ln w="9525">
            <a:solidFill>
              <a:srgbClr val="E2F2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177272" y="262432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69480" y="3081528"/>
            <a:ext cx="4343400" cy="914400"/>
          </a:xfrm>
          <a:prstGeom prst="roundRect">
            <a:avLst>
              <a:gd name="adj" fmla="val 8000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52360" y="3172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34472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編輯服務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464040" y="3172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RENDERS ← 入口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296144" y="3648456"/>
            <a:ext cx="1225296" cy="274320"/>
          </a:xfrm>
          <a:prstGeom prst="roundRect">
            <a:avLst>
              <a:gd name="adj" fmla="val 26667"/>
            </a:avLst>
          </a:prstGeom>
          <a:solidFill>
            <a:srgbClr val="E4ECF6"/>
          </a:solidFill>
          <a:ln w="9525">
            <a:solidFill>
              <a:srgbClr val="E4E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296144" y="36484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4105656"/>
            <a:ext cx="4343400" cy="914400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52360" y="4197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適用條件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452360" y="44714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ROLE_BUSINESS、有 business、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不需強制改密碼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464040" y="41970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App.tsx:112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296144" y="4672584"/>
            <a:ext cx="1225296" cy="274320"/>
          </a:xfrm>
          <a:prstGeom prst="roundRect">
            <a:avLst>
              <a:gd name="adj" fmla="val 26667"/>
            </a:avLst>
          </a:prstGeom>
          <a:solidFill>
            <a:srgbClr val="E4ECF6"/>
          </a:solidFill>
          <a:ln w="9525">
            <a:solidFill>
              <a:srgbClr val="E4EC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96144" y="4672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269480" y="5129784"/>
            <a:ext cx="4343400" cy="914400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52360" y="5221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畫面元件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452360" y="54955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ServiceEditorScaffold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ServiceEditorPage.tsx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464040" y="52212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SettingsPages.tsx:48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實例：編輯服務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畫面上有什麼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760720" cy="3566160"/>
          </a:xfrm>
          <a:prstGeom prst="roundRect">
            <a:avLst>
              <a:gd name="adj" fmla="val 2051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ServiceEditorPage.tsx  L22（節錄）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&lt;SettingsPageHeader title="編輯服務"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actions={&lt;Link to="/service/manage"&gt;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返回服務管理&lt;/Link&gt;}/&gt;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id="service-name" …/&gt;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id="service-duration" type="number"/&gt;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&lt;StickySaveBar onSave={() =&gt; void save()}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onDiscard={form.discard}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primaryLabel={editing ? '儲存服務' : …}/&gt;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34924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個 COMPONENT（圖）／ 27 個按鈕與連結（報表）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675120" y="1600200"/>
            <a:ext cx="4937760" cy="1719072"/>
          </a:xfrm>
          <a:prstGeom prst="roundRect">
            <a:avLst>
              <a:gd name="adj" fmla="val 4255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17099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本頁內容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2075688"/>
            <a:ext cx="4572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服務名稱、服務時長（2 個欄位）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儲存服務、捨棄變更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返回服務管理（連結）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75120" y="3547872"/>
            <a:ext cx="4937760" cy="1335024"/>
          </a:xfrm>
          <a:prstGeom prst="roundRect">
            <a:avLst>
              <a:gd name="adj" fmla="val 5479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03720" y="3657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共用外框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4023360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側邊欄：營運概覽、預約中心、服務、商家設定…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頂部列：通知、帳號、登出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75120" y="5111496"/>
            <a:ext cx="4937760" cy="1335024"/>
          </a:xfrm>
          <a:prstGeom prst="roundRect">
            <a:avLst>
              <a:gd name="adj" fmla="val 5479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52212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狀態元件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5586984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載入失敗時的「重試」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登入逾時提醒的對話框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實例：編輯服務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按下「儲存服務」，打了哪支 API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58952" y="2103120"/>
            <a:ext cx="0" cy="658368"/>
          </a:xfrm>
          <a:prstGeom prst="line">
            <a:avLst/>
          </a:prstGeom>
          <a:noFill/>
          <a:ln w="25400">
            <a:solidFill>
              <a:srgbClr val="C9D4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55648"/>
            <a:ext cx="420624" cy="420624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6002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0" y="160020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1600200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「儲存服務」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6002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ServiceEditorPage.tsx:22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" y="3035808"/>
            <a:ext cx="0" cy="658368"/>
          </a:xfrm>
          <a:prstGeom prst="line">
            <a:avLst/>
          </a:prstGeom>
          <a:noFill/>
          <a:ln w="25400">
            <a:solidFill>
              <a:srgbClr val="C9D4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688336"/>
            <a:ext cx="420624" cy="420624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532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事件處理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60320" y="2532888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43200" y="2532888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253288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ServiceEditorPage.tsx:19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58952" y="3968496"/>
            <a:ext cx="0" cy="658368"/>
          </a:xfrm>
          <a:prstGeom prst="line">
            <a:avLst/>
          </a:prstGeom>
          <a:noFill/>
          <a:ln w="25400">
            <a:solidFill>
              <a:srgbClr val="C9D4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3621024"/>
            <a:ext cx="420624" cy="420624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346557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函式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2560320" y="3465576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743200" y="3465576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api.modifyServiceItem(id, payload)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183880" y="346557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ServiceEditorPage.tsx:19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553712"/>
            <a:ext cx="420624" cy="420624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439826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組出請求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2560320" y="4398264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743200" y="4398264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request(`/api/businesses/services/${id}/modify`,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method: 'POST' })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183880" y="439826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api.ts:241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5330952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" y="5330952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 →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/api/businesses/services/{id}/modify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183880" y="5623560"/>
            <a:ext cx="1225296" cy="274320"/>
          </a:xfrm>
          <a:prstGeom prst="roundRect">
            <a:avLst>
              <a:gd name="adj" fmla="val 26667"/>
            </a:avLst>
          </a:prstGeom>
          <a:solidFill>
            <a:srgbClr val="E4ECF6"/>
          </a:solidFill>
          <a:ln w="9525">
            <a:solidFill>
              <a:srgbClr val="E4ECF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183880" y="562356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0058400" y="1600200"/>
            <a:ext cx="1554480" cy="45262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195560" y="17373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同一顆按鈕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還記錄了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0195560" y="2468880"/>
            <a:ext cx="1371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/api/csrf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 POST 前取 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…/services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存完重新讀取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服務管理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成功後換頁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實例：編輯服務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前端的 URL，怎麼對上後端的方法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前端（screentrace-js）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api.ts:241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/api/businesses/services/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${id}/modify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74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正規化 → /api/businesses/services/*/modify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2606040"/>
            <a:ext cx="731520" cy="731520"/>
          </a:xfrm>
          <a:prstGeom prst="ellipse">
            <a:avLst/>
          </a:prstGeom>
          <a:solidFill>
            <a:srgbClr val="1B7F8E"/>
          </a:solidFill>
          <a:ln w="9525">
            <a:solidFill>
              <a:srgbClr val="1B7F8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4340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3383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method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＋路徑樣板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40680" y="1600200"/>
            <a:ext cx="6172200" cy="2743200"/>
          </a:xfrm>
          <a:prstGeom prst="roundRect">
            <a:avLst>
              <a:gd name="adj" fmla="val 2667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0" y="1783080"/>
            <a:ext cx="5715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BusinessApiController.java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@RequestMapping("/api")                    // L23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BusinessApiController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@PostMapping("/businesses/services/{id}/modify")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ResponseEntity&lt;ApiResponse&lt;Void&gt;&gt;  // L394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modifyServiceItem(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@PathVariable Long id,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@RequestBody ServiceItemRequest request)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6177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4736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HANDLED_BY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120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BusinessApiController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.modifyServiceItem()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697480" y="47548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E2F2E8"/>
          </a:solidFill>
          <a:ln w="9525">
            <a:solidFill>
              <a:srgbClr val="E2F2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97480" y="47548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25112" y="46177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53712" y="4736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53712" y="5120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Long（PATH）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String、duration: Integer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101584" y="46177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30184" y="4736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200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330184" y="5120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ApiResponse&lt;Void&gt;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實例：編輯服務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從哪裡來，可以去到哪裡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434840" y="27432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34840" y="2852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編輯服務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43484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/service/:id/edit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43484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進入時 GET …/{businessId}/services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從哪裡來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服務管理「編輯」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to={`/service/${id}/edit`}&gt;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ServiceManagementPage.tsx:18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3776472"/>
            <a:ext cx="1225296" cy="274320"/>
          </a:xfrm>
          <a:prstGeom prst="roundRect">
            <a:avLst>
              <a:gd name="adj" fmla="val 26667"/>
            </a:avLst>
          </a:prstGeom>
          <a:solidFill>
            <a:srgbClr val="E4ECF6"/>
          </a:solidFill>
          <a:ln w="9525">
            <a:solidFill>
              <a:srgbClr val="E4EC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77647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77640" y="3429000"/>
            <a:ext cx="411480" cy="0"/>
          </a:xfrm>
          <a:prstGeom prst="line">
            <a:avLst/>
          </a:prstGeom>
          <a:noFill/>
          <a:ln w="2540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822960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可以去到哪裡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 flipV="1">
            <a:off x="7772400" y="2377440"/>
            <a:ext cx="411480" cy="1051560"/>
          </a:xfrm>
          <a:prstGeom prst="line">
            <a:avLst/>
          </a:prstGeom>
          <a:noFill/>
          <a:ln w="15875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229600" y="201168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2075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儲存服務 → 服務管理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2423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navigate('/service/manage') · L19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 flipV="1">
            <a:off x="7772400" y="3218688"/>
            <a:ext cx="411480" cy="210312"/>
          </a:xfrm>
          <a:prstGeom prst="line">
            <a:avLst/>
          </a:prstGeom>
          <a:noFill/>
          <a:ln w="15875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229600" y="285292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0" y="29169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返回服務管理 → 服務管理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412480" y="3264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to="/service/manage"&gt; · L22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772400" y="3429000"/>
            <a:ext cx="411480" cy="630936"/>
          </a:xfrm>
          <a:prstGeom prst="line">
            <a:avLst/>
          </a:prstGeom>
          <a:noFill/>
          <a:ln w="15875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229600" y="3694176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0" y="3758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側邊欄 → 營運概覽、預約中心…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41056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DesktopWorkspaceSidebar.tsx:31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72400" y="3429000"/>
            <a:ext cx="411480" cy="1472184"/>
          </a:xfrm>
          <a:prstGeom prst="line">
            <a:avLst/>
          </a:prstGeom>
          <a:noFill/>
          <a:ln w="15875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229600" y="4535424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12480" y="4599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登出 → 登入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412480" y="4946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/api/auth/logout · LogoutButton.tsx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樣板組出的網址標 INFERRED，字面值標 CONFIRMED：每條線都說明自己有多確定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實例：編輯服務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合起來：報表上看到的，就是這一整條線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1F5F7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服務管理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1600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ServiceManagementPage.tsx:18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05840" y="2185416"/>
            <a:ext cx="0" cy="210312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1143000" y="21671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NAVIGATES_TO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414016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4140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編輯服務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24140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9A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 /service/:id/edit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24140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App.tsx:273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005840" y="2999232"/>
            <a:ext cx="0" cy="210312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1143000" y="29809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227832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1F5F7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2278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儲存服務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108960" y="32278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32278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ServiceEditorPage.tsx:22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05840" y="3813048"/>
            <a:ext cx="0" cy="210312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1143000" y="37947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041648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CF1DE"/>
          </a:solidFill>
          <a:ln w="9525">
            <a:solidFill>
              <a:srgbClr val="FCF1D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0416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…/services/{id}/modify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108960" y="40416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892040" y="40416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api.ts:241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05840" y="4626864"/>
            <a:ext cx="0" cy="210312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1143000" y="46085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HANDLED_BY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4855464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1F5F7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48554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modifyServiceItem()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3108960" y="485546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後端方法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892040" y="48554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BusinessApiController.java:394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005840" y="5440680"/>
            <a:ext cx="0" cy="210312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1143000" y="54223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NAVIGATES_TO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" y="566928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1F5F7"/>
          </a:solidFill>
          <a:ln w="9525">
            <a:solidFill>
              <a:srgbClr val="C9D4D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5669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服務管理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3108960" y="5669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下一個畫面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892040" y="5669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ServiceEditorPage.tsx:19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982712" y="1581912"/>
            <a:ext cx="3008376" cy="4581144"/>
          </a:xfrm>
          <a:prstGeom prst="rect">
            <a:avLst/>
          </a:prstGeom>
          <a:solidFill>
            <a:srgbClr val="C9D4DA"/>
          </a:solidFill>
          <a:ln w="12700">
            <a:solidFill>
              <a:srgbClr val="C9D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0" name="Image 0" descr="/Users/machi/IntelliJ/screentrace/presentation/2026-10-30/assets/rv-edit-saveb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2971800" cy="4544568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8001000" y="61996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報表右側的按鈕清單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7936992" y="4498848"/>
            <a:ext cx="3108960" cy="868680"/>
          </a:xfrm>
          <a:prstGeom prst="roundRect">
            <a:avLst>
              <a:gd name="adj" fmla="val 6316"/>
            </a:avLst>
          </a:prstGeom>
          <a:ln w="31750">
            <a:solidFill>
              <a:srgbClr val="E9A2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實例：編輯服務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每條關係都標明「有多確定」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E2F2E8"/>
          </a:solidFill>
          <a:ln w="9525">
            <a:solidFill>
              <a:srgbClr val="E2F2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原始碼直接證明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@PostMapping(…/modify)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modifyServiceItem()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2,520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074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reservio · 條關係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67735" y="164592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E4ECF6"/>
          </a:solidFill>
          <a:ln w="9525">
            <a:solidFill>
              <a:srgbClr val="E4EC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96335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INFERRED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96335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依明確規則推導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96335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`/api/…/${id}/modify`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修改 API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596335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3A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294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3596335" y="5074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reservio · 條關係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86830" y="164592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FBEFD9"/>
          </a:solidFill>
          <a:ln w="9525">
            <a:solidFill>
              <a:srgbClr val="FBEF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543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AMBIGUOUS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1543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多個候選，全部保留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15430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「返回首頁」→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訪客首頁或商家首頁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1543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4400" dirty="0"/>
          </a:p>
        </p:txBody>
      </p:sp>
      <p:sp>
        <p:nvSpPr>
          <p:cNvPr id="22" name="Text 19"/>
          <p:cNvSpPr txBox="1"/>
          <p:nvPr/>
        </p:nvSpPr>
        <p:spPr>
          <a:xfrm>
            <a:off x="6415430" y="5074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reservio · 條關係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005926" y="164592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F8E4E1"/>
          </a:solidFill>
          <a:ln w="9525">
            <a:solidFill>
              <a:srgbClr val="F8E4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34526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4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UNRESOLVED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34526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無法證明，保留原文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34526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登入導回路徑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SecurityConfig.java:104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23452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B5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28" name="Text 25"/>
          <p:cNvSpPr txBox="1"/>
          <p:nvPr/>
        </p:nvSpPr>
        <p:spPr>
          <a:xfrm>
            <a:off x="9234526" y="5074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reservio · 筆診斷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目前的限制，以及需要後端一起補的地方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8E4E1"/>
          </a:solidFill>
          <a:ln w="9525">
            <a:solidFill>
              <a:srgbClr val="F8E4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54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靜態分析看不到的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68880"/>
            <a:ext cx="4800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反射、動態 SQL、執行期組出的 URL 無法保證還原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預覽用示例資料；缺套件 CSS 或未解析邏輯會讓畫面有差異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外部系統、排程、書籤、Webhook 的呼叫看不到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只做盤點與決策交付，不自動轉換或修改程式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7F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需要後端同仁協助的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468880"/>
            <a:ext cx="4800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 Controller 的回傳分支與導向是否完整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補上外部呼叫來源：批次、其他系統、第三方回呼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 context path 等部署設定，減少未解析 URL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挑一條真實功能流程，一起驗證結果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54864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4864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靜態預覽是「示意」，不等於原系統行為；決策前仍需工程確認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挑一個內部專案，驗證一條完整功能流程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9260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E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畫面與按鈕的去向是否正確？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794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E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的分支與 API 契約是否完整？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E9A23B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663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E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有哪些外部入口需要補上？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 · Q&amp;A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ScreenTrace 技術介紹</dc:title>
  <dc:subject>後端技術分享 2026-10-30</dc:subject>
  <dc:creator>PptxGenJS</dc:creator>
  <cp:lastModifiedBy>PptxGenJS</cp:lastModifiedBy>
  <cp:revision>1</cp:revision>
  <dcterms:created xsi:type="dcterms:W3CDTF">2026-10-30T00:45:53Z</dcterms:created>
  <dcterms:modified xsi:type="dcterms:W3CDTF">2026-10-30T00:45:53Z</dcterms:modified>
</cp:coreProperties>
</file>